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0360152" cy="583387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84048" y="384048"/>
            <a:ext cx="9582912" cy="5074920"/>
          </a:xfrm>
          <a:prstGeom prst="roundRect">
            <a:avLst/>
          </a:prstGeom>
          <a:solidFill>
            <a:srgbClr val="09151F"/>
          </a:solidFill>
          <a:ln>
            <a:solidFill>
              <a:srgbClr val="09151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88352" y="384048"/>
            <a:ext cx="2578608" cy="5074920"/>
          </a:xfrm>
          <a:prstGeom prst="roundRect">
            <a:avLst/>
          </a:prstGeom>
          <a:solidFill>
            <a:srgbClr val="163149"/>
          </a:solidFill>
          <a:ln>
            <a:solidFill>
              <a:srgbClr val="16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64e61b998a5ddf5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8352" y="384048"/>
            <a:ext cx="2578608" cy="5074920"/>
          </a:xfrm>
          <a:prstGeom prst="rect">
            <a:avLst/>
          </a:prstGeom>
        </p:spPr>
      </p:pic>
      <p:sp>
        <p:nvSpPr>
          <p:cNvPr id="5" name="5-Point Star 4"/>
          <p:cNvSpPr/>
          <p:nvPr/>
        </p:nvSpPr>
        <p:spPr>
          <a:xfrm>
            <a:off x="7973568" y="868680"/>
            <a:ext cx="1353312" cy="1353312"/>
          </a:xfrm>
          <a:prstGeom prst="star5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82296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8D3E6"/>
                </a:solidFill>
                <a:latin typeface="Aptos"/>
              </a:rPr>
              <a:t>Language + Healthcare + AI + Data + Cloud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1389888"/>
            <a:ext cx="58521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Georgia"/>
              </a:rPr>
              <a:t>Healthcare Language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87168"/>
            <a:ext cx="56235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EE"/>
                </a:solidFill>
                <a:latin typeface="Aptos"/>
              </a:rPr>
              <a:t>A cloud operating system for multilingual care communication, translation workflows, and governed AI language support.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457200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D8E6EE"/>
                </a:solidFill>
                <a:latin typeface="Aptos"/>
              </a:rPr>
              <a:t>hello@healthcarelanguage.ai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07808" y="1828800"/>
            <a:ext cx="1993392" cy="841248"/>
          </a:xfrm>
          <a:prstGeom prst="roundRect">
            <a:avLst/>
          </a:prstGeom>
          <a:solidFill>
            <a:srgbClr val="1B3750"/>
          </a:solidFill>
          <a:ln>
            <a:solidFill>
              <a:srgbClr val="1B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0" y="1956816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C8DF"/>
                </a:solidFill>
                <a:latin typeface="Aptos"/>
              </a:rPr>
              <a:t>$288.6B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0" y="2194560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digital health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07808" y="2889504"/>
            <a:ext cx="1993392" cy="841248"/>
          </a:xfrm>
          <a:prstGeom prst="roundRect">
            <a:avLst/>
          </a:prstGeom>
          <a:solidFill>
            <a:srgbClr val="1B3750"/>
          </a:solidFill>
          <a:ln>
            <a:solidFill>
              <a:srgbClr val="1B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0" y="3017520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C8DF"/>
                </a:solidFill>
                <a:latin typeface="Aptos"/>
              </a:rPr>
              <a:t>$866.5B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3255264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healthcare IT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607808" y="3950208"/>
            <a:ext cx="1993392" cy="841248"/>
          </a:xfrm>
          <a:prstGeom prst="roundRect">
            <a:avLst/>
          </a:prstGeom>
          <a:solidFill>
            <a:srgbClr val="1B3750"/>
          </a:solidFill>
          <a:ln>
            <a:solidFill>
              <a:srgbClr val="1B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0" y="4078224"/>
            <a:ext cx="15544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A6C8DF"/>
                </a:solidFill>
                <a:latin typeface="Aptos"/>
              </a:rPr>
              <a:t>$42.5B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0" y="4315968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Georgia"/>
              </a:rPr>
              <a:t>health cloud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systems still manage language access, translated content, and patient communication across fragmented tools and manual workflows.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Language access is disconnected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Interpreter requests, translated instructions, reminders, and patient outreach often sit outside core care and administrative workflows.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Quality and terminology drift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Hospitals and programs struggle to keep multilingual content, approved phrases, and clinical terminology aligned across teams and vendors.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Communication data is underused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Language demand, outreach performance, and patient-understanding signals rarely live inside one governed operational system.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475488"/>
            <a:ext cx="9418320" cy="5394960"/>
          </a:xfrm>
          <a:prstGeom prst="round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Language gives providers and governments one secure layer for multilingual communication, content governance, and assistive language AI.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55648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bfae5a5b5f7c413c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01952"/>
            <a:ext cx="3026664" cy="321868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68680" y="2048256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75104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Patient language profiles, communication preferences, and access needs in one system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Clinical translation, review, approval, and publishing workflows for regulated content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0752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5760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Speech, transcription, summarization, and translation assistance with human oversight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4988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Dashboards for language demand, service gaps, quality control, and program performance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Three market forces make healthcare language infrastructure a timely, durable modernization opportunity.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Digital health is scaling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global digital health market reached $288.6B in 2024 and is projected to reach $946.0B by 2030.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Healthcare IT budgets are large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global healthcare IT market is estimated at $866.5B in 2025 and projected to exceed $2.86T by 2033.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AI + cloud need governance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cloud reached $42.5B in 2024 while AI in healthcare is projected to exceed $505.6B by 2033.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Product wedge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Language sits at the center of patient communication, translation operations, and multilingual service oversight.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01952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08483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332"/>
                </a:solidFill>
                <a:latin typeface="Georgia"/>
              </a:rPr>
              <a:t>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33272" y="2670048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Patient language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33272" y="3200400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Clinical content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33272" y="373075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Outreach demand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749039" y="1664208"/>
            <a:ext cx="2971800" cy="3703320"/>
          </a:xfrm>
          <a:prstGeom prst="roundRect">
            <a:avLst/>
          </a:prstGeom>
          <a:solidFill>
            <a:srgbClr val="0F2E46"/>
          </a:solidFill>
          <a:ln>
            <a:solidFill>
              <a:srgbClr val="0F2E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7" y="1847088"/>
            <a:ext cx="2569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Georgia"/>
              </a:rPr>
              <a:t>Healthcare Language core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05071" y="2432304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Profiles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005071" y="2962656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Translation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05071" y="3493008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Terminology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05071" y="4023359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AI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05071" y="4553711"/>
            <a:ext cx="245973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• Oversight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60920" y="1901952"/>
            <a:ext cx="233172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2088" y="2084832"/>
            <a:ext cx="19293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D2332"/>
                </a:solidFill>
                <a:latin typeface="Georgia"/>
              </a:rPr>
              <a:t>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16952" y="2670048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Better understanding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16952" y="3200400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Faster delivery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6952" y="3730752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Quality 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16952" y="4261103"/>
            <a:ext cx="1819656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• Access analytics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Core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platform expands from a communication wedge into broader multilingual health infrastructure over time.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828800"/>
            <a:ext cx="9098280" cy="713232"/>
          </a:xfrm>
          <a:prstGeom prst="roundRect">
            <a:avLst/>
          </a:prstGeom>
          <a:solidFill>
            <a:srgbClr val="EAF2F6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32688" y="19751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Patient access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19568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Preferred language, interpreter requirements, communication preferences, and accessibility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2743200"/>
            <a:ext cx="9098280" cy="713232"/>
          </a:xfrm>
          <a:prstGeom prst="roundRect">
            <a:avLst/>
          </a:prstGeom>
          <a:solidFill>
            <a:srgbClr val="DDEBF3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28895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Translation workflow layer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0" y="28712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Request intake, reviewer routing, version control, approvals, and regulated content publishing.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3232" y="3657600"/>
            <a:ext cx="9098280" cy="713232"/>
          </a:xfrm>
          <a:prstGeom prst="roundRect">
            <a:avLst/>
          </a:prstGeom>
          <a:solidFill>
            <a:srgbClr val="EAF2F6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" y="38039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Terminology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7856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Medical glossaries, approved phrases, reusable content, and multilingual quality governance.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572000"/>
            <a:ext cx="9098280" cy="713232"/>
          </a:xfrm>
          <a:prstGeom prst="roundRect">
            <a:avLst/>
          </a:prstGeom>
          <a:solidFill>
            <a:srgbClr val="DDEBF3"/>
          </a:solidFill>
          <a:ln>
            <a:solidFill>
              <a:srgbClr val="C9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" y="4718304"/>
            <a:ext cx="21945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F2E46"/>
                </a:solidFill>
                <a:latin typeface="Georgia"/>
              </a:rPr>
              <a:t>Intelligence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700016"/>
            <a:ext cx="6492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2332"/>
                </a:solidFill>
                <a:latin typeface="Aptos"/>
              </a:rPr>
              <a:t>Demand forecasting, quality review, audit trails, summarization, and governed AI assistance.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Beachhead customers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The first buyers are healthcare organizations with high communication complexity, compliance needs, and population-scale service delivery.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Public health programs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Programs need multilingual outreach, campaign control, reviewed patient content, and service continuity across diverse populations.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Hospital and insurer networks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Institutions need one governed environment for patient communication, terminology, translation workflows, and access reporting.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Residential and long-term 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Care operators need clearer instructions, caregiver coordination, and multilingual communication support across settings.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How value is created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The product creates repeatable operational value from language intake to communication quality and system insight.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Record patient language needs, access preferences, and communication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82112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Coordinate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Route translation requests, interpreter support, content review, and care messaging workflows.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49824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Govern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Standardize terminology, approvals, publishing, and auditability across programs and institutions.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17536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Improve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Use analytics and AI support to forecast demand, flag quality issues, and strengthen access outcomes.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Why this can win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Workflow depth, language governance, and regulated deployment needs create defensibility once embedded in care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828800"/>
            <a:ext cx="9144000" cy="3493008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48256"/>
            <a:ext cx="21031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7284"/>
                </a:solidFill>
                <a:latin typeface="Aptos"/>
              </a:rPr>
              <a:t>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0" y="2048256"/>
            <a:ext cx="256032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7284"/>
                </a:solidFill>
                <a:latin typeface="Aptos"/>
              </a:rPr>
              <a:t>Record or workflow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56448" y="2048256"/>
            <a:ext cx="10058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607284"/>
                </a:solidFill>
                <a:latin typeface="Aptos"/>
              </a:rPr>
              <a:t>Status</a:t>
            </a:r>
          </a:p>
        </p:txBody>
      </p:sp>
      <p:sp>
        <p:nvSpPr>
          <p:cNvPr id="9" name="Rectangle 8"/>
          <p:cNvSpPr/>
          <p:nvPr/>
        </p:nvSpPr>
        <p:spPr>
          <a:xfrm>
            <a:off x="859536" y="2450592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505456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Access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2505456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Patient communication and language records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11312" y="2505456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defensible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59536" y="3108960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163824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Audit trail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023360" y="3163824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Translation edits and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11312" y="3163824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embedded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9536" y="3767327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22191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Terminology governance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023360" y="3822191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Approved medical language and content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11312" y="3822191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sticky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59536" y="4425696"/>
            <a:ext cx="8732520" cy="9144"/>
          </a:xfrm>
          <a:prstGeom prst="rect">
            <a:avLst/>
          </a:prstGeom>
          <a:solidFill>
            <a:srgbClr val="D9E7EE"/>
          </a:solidFill>
          <a:ln>
            <a:solidFill>
              <a:srgbClr val="D9E7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480560"/>
            <a:ext cx="26060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D2332"/>
                </a:solidFill>
                <a:latin typeface="Aptos"/>
              </a:rPr>
              <a:t>Operational reporting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480560"/>
            <a:ext cx="28346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Demand, quality, and access monitoring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11312" y="4480560"/>
            <a:ext cx="914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C8A7B"/>
                </a:solidFill>
                <a:latin typeface="Aptos"/>
              </a:rPr>
              <a:t>required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Language sits inside multiple large modernization markets with recurring demand for better communication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$288.6B digital health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Global digital health reached $288.6B in 2024 and is projected to grow to $946.0B by 2030.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$866.5B healthcare IT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IT is estimated at $866.5B in 2025, with projected revenue above $2.86T by 2033.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$505.6B AI in healthcare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AI in healthcare is projected to exceed $505.6B by 2033 as workflows and analytics move into governed systems.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475488"/>
            <a:ext cx="9418320" cy="5394960"/>
          </a:xfrm>
          <a:prstGeom prst="round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Go-to-market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Commercial entry starts with urgent language-access and communication workflows, then expands into broader system integrations.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55648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d04314e8c9d2356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01952"/>
            <a:ext cx="3026664" cy="321868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68680" y="2048256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75104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Lead with multilingual patient communication, translation workflow, and terminology control use cases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Sell into public-sector programs, hospital groups, insurers, and regulated care operators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0752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5760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Expand into outreach analytics, speech workflows, AI assistance, and network-wide governance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4988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Build recurring revenue through deployment, configuration, integrations, and enterprise contracts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Revenue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Revenue compounds through platform contracts, implementation services, and high-value language intelligence modules.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Platform licensing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Contracts tied to institution, network, program, or regional deployment for multilingual communication infrastructure.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840480" y="1901952"/>
            <a:ext cx="2926080" cy="109728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4164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Implementation revenue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4164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Integration, content migration, rollout, terminology setup, training, and workflow configuration 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86600" y="1901952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86600" y="1901952"/>
            <a:ext cx="2926080" cy="109728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87768" y="2130552"/>
            <a:ext cx="24688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F2E46"/>
                </a:solidFill>
                <a:latin typeface="Georgia"/>
              </a:rPr>
              <a:t>Expansion modules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670048"/>
            <a:ext cx="2514600" cy="1389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Premium analytics, speech tools, reviewed AI assistance, outreach optimization, and multilingual quality monitoring.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0C8A7B"/>
          </a:solidFill>
          <a:ln>
            <a:solidFill>
              <a:srgbClr val="0C8A7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FFFFFF"/>
                </a:solidFill>
                <a:latin typeface="Georgia"/>
              </a:rPr>
              <a:t>Expansion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D8E6EE"/>
                </a:solidFill>
                <a:latin typeface="Aptos"/>
              </a:rPr>
              <a:t>The business expands from language access workflows into broader communication infrastructure and operational intelligence.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Win with translation workflows, patient language profiles, and governed content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82112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84448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82112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82112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Expand into messaging, outreach, interpreter coordination, and network-wide reporting.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85232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49824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52160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9824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49824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Layer in transcription, summarization, quality review, and assistive AI workflows.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552944" y="2359152"/>
            <a:ext cx="1920240" cy="2267712"/>
          </a:xfrm>
          <a:prstGeom prst="roundRect">
            <a:avLst/>
          </a:prstGeom>
          <a:solidFill>
            <a:srgbClr val="173044"/>
          </a:solidFill>
          <a:ln>
            <a:solidFill>
              <a:srgbClr val="2244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717536" y="2578608"/>
            <a:ext cx="310896" cy="310896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19872" y="2578608"/>
            <a:ext cx="36576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A7C9DF"/>
                </a:solidFill>
                <a:latin typeface="Aptos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17536" y="2971800"/>
            <a:ext cx="157276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Georgia"/>
              </a:rPr>
              <a:t>Phase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17536" y="3474720"/>
            <a:ext cx="1572768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D8E6EE"/>
                </a:solidFill>
                <a:latin typeface="Aptos"/>
              </a:rPr>
              <a:t>Scale to system-wide communication intelligence, optimization, and broader care integration.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75488" y="475488"/>
            <a:ext cx="9418320" cy="5394960"/>
          </a:xfrm>
          <a:prstGeom prst="roundRect">
            <a:avLst/>
          </a:prstGeom>
          <a:solidFill>
            <a:srgbClr val="EEF5F4"/>
          </a:solidFill>
          <a:ln>
            <a:solidFill>
              <a:srgbClr val="EEF5F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94360" y="658368"/>
            <a:ext cx="128016" cy="822960"/>
          </a:xfrm>
          <a:prstGeom prst="rect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50392" y="658368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0D2332"/>
                </a:solidFill>
                <a:latin typeface="Georgia"/>
              </a:rPr>
              <a:t>Investment case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124712"/>
            <a:ext cx="88696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607284"/>
                </a:solidFill>
                <a:latin typeface="Aptos"/>
              </a:rPr>
              <a:t>Healthcare Language sits where digital health modernization, communication equity, and governed healthcare AI converge.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89320" y="1755648"/>
            <a:ext cx="333756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D4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ac6bd97f4720c84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4768" y="1901952"/>
            <a:ext cx="3026664" cy="3218688"/>
          </a:xfrm>
          <a:prstGeom prst="rect">
            <a:avLst/>
          </a:prstGeom>
        </p:spPr>
      </p:pic>
      <p:sp>
        <p:nvSpPr>
          <p:cNvPr id="8" name="Oval 7"/>
          <p:cNvSpPr/>
          <p:nvPr/>
        </p:nvSpPr>
        <p:spPr>
          <a:xfrm>
            <a:off x="868680" y="2048256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70432" y="1975104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Large multi-market opportunity across digital health, healthcare IT, AI, and cloud infrastructure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2889504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70432" y="2816352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Workflow-embedded product with strong stickiness once language operations move into the platform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3730752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70432" y="3657600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Recurring enterprise revenue with implementation, integrations, and expansion layers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572000"/>
            <a:ext cx="201168" cy="201168"/>
          </a:xfrm>
          <a:prstGeom prst="ellipse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70432" y="4498848"/>
            <a:ext cx="4526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D2332"/>
                </a:solidFill>
                <a:latin typeface="Aptos"/>
              </a:rPr>
              <a:t>Clear fit for public-sector, provider, payer, and regulated care environments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15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987552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B8D3E6"/>
                </a:solidFill>
                <a:latin typeface="Aptos"/>
              </a:rPr>
              <a:t>Healthcare Communication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719072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Georgia"/>
              </a:rPr>
              <a:t>Healthcare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33472"/>
            <a:ext cx="589788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D8E6EE"/>
                </a:solidFill>
                <a:latin typeface="Aptos"/>
              </a:rPr>
              <a:t>We are building the infrastructure layer for multilingual healthcare communication, translation operations, and governed language AI.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4526280"/>
            <a:ext cx="38404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Aptos"/>
              </a:rPr>
              <a:t>hello@healthcarelanguage.ai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42048" y="914400"/>
            <a:ext cx="2212848" cy="4498848"/>
          </a:xfrm>
          <a:prstGeom prst="roundRect">
            <a:avLst/>
          </a:prstGeom>
          <a:solidFill>
            <a:srgbClr val="163149"/>
          </a:solidFill>
          <a:ln>
            <a:solidFill>
              <a:srgbClr val="163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64e61b998a5ddf5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2048" y="914400"/>
            <a:ext cx="2212848" cy="4498848"/>
          </a:xfrm>
          <a:prstGeom prst="rect">
            <a:avLst/>
          </a:prstGeom>
        </p:spPr>
      </p:pic>
      <p:sp>
        <p:nvSpPr>
          <p:cNvPr id="8" name="5-Point Star 7"/>
          <p:cNvSpPr/>
          <p:nvPr/>
        </p:nvSpPr>
        <p:spPr>
          <a:xfrm>
            <a:off x="7708392" y="1353312"/>
            <a:ext cx="1280160" cy="1280160"/>
          </a:xfrm>
          <a:prstGeom prst="star5">
            <a:avLst/>
          </a:prstGeom>
          <a:solidFill>
            <a:srgbClr val="F1CF63"/>
          </a:solidFill>
          <a:ln>
            <a:solidFill>
              <a:srgbClr val="F1CF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24927" y="3328416"/>
            <a:ext cx="18288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D8E6EE"/>
                </a:solidFill>
                <a:latin typeface="Aptos"/>
              </a:rPr>
              <a:t>Governed language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7" y="3657600"/>
            <a:ext cx="1828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Georgia"/>
              </a:rPr>
              <a:t>care, data,</a:t>
            </a:r>
            <a:br/>
            <a:r>
              <a:t>and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72600" y="5394960"/>
            <a:ext cx="4114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07284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Language Pitch Deck</dc:title>
  <dc:subject>Multilingual healthcare communication infrastructure</dc:subject>
  <dc:creator>OpenAI Codex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